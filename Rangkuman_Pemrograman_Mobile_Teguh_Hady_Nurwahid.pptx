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2194560" cy="2194560"/>
          </a:xfrm>
          <a:prstGeom prst="ellipse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828800"/>
            <a:ext cx="1554480" cy="1554480"/>
          </a:xfrm>
          <a:prstGeom prst="ellipse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200400"/>
            <a:ext cx="1188720" cy="1188720"/>
          </a:xfrm>
          <a:prstGeom prst="ellipse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4023360"/>
            <a:ext cx="1828800" cy="1828800"/>
          </a:xfrm>
          <a:prstGeom prst="ellipse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713232"/>
            <a:ext cx="777240" cy="82296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68580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35BECD"/>
                </a:solidFill>
                <a:latin typeface="Aptos"/>
              </a:defRPr>
            </a:pPr>
            <a:r>
              <a:t>RANGKUMAN MATERI KULIAH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7315200" cy="14173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PEMROGRAMAN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MOBILE 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6858000" cy="7315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D6E1F0"/>
                </a:solidFill>
                <a:latin typeface="Aptos"/>
              </a:defRPr>
            </a:pPr>
            <a:r>
              <a:t>Bab 1–6 • Dirangkum dengan bahasa sederhana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D6E1F0"/>
                </a:solidFill>
                <a:latin typeface="Aptos"/>
              </a:defRPr>
            </a:pPr>
            <a:r>
              <a:t>Berdasarkan modul Pemrograman Mobile Android dengan 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3383280" cy="502920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818888"/>
            <a:ext cx="306324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ANDROID  •  JAVA  •  UI/UX  • 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99632"/>
            <a:ext cx="685800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AABCD2"/>
                </a:solidFill>
                <a:latin typeface="Aptos"/>
              </a:defRPr>
            </a:pPr>
            <a:r>
              <a:t>Sumber materi: Erma Susanti • Desember 2020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51960"/>
            <a:ext cx="5577840" cy="1691640"/>
          </a:xfrm>
          <a:prstGeom prst="roundRect">
            <a:avLst/>
          </a:prstGeom>
          <a:solidFill>
            <a:srgbClr val="142F53"/>
          </a:solidFill>
          <a:ln w="15875">
            <a:solidFill>
              <a:srgbClr val="3EC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128016" bIns="91440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6BE0F5"/>
                </a:solidFill>
                <a:latin typeface="Aptos"/>
              </a:rPr>
              <a:t>Nama   : </a:t>
            </a:r>
            <a:r>
              <a:rPr sz="1500">
                <a:solidFill>
                  <a:srgbClr val="FFFFFF"/>
                </a:solidFill>
                <a:latin typeface="Aptos"/>
              </a:rPr>
              <a:t>Teguh Hady Nurwahid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6BE0F5"/>
                </a:solidFill>
                <a:latin typeface="Aptos"/>
              </a:rPr>
              <a:t>NIM    : </a:t>
            </a:r>
            <a:r>
              <a:rPr sz="1500">
                <a:solidFill>
                  <a:srgbClr val="FFFFFF"/>
                </a:solidFill>
                <a:latin typeface="Aptos"/>
              </a:rPr>
              <a:t>2302164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6BE0F5"/>
                </a:solidFill>
                <a:latin typeface="Aptos"/>
              </a:rPr>
              <a:t>Kelas  : </a:t>
            </a:r>
            <a:r>
              <a:rPr sz="1500">
                <a:solidFill>
                  <a:srgbClr val="FFFFFF"/>
                </a:solidFill>
                <a:latin typeface="Aptos"/>
              </a:rPr>
              <a:t>23S04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6BE0F5"/>
                </a:solidFill>
                <a:latin typeface="Aptos"/>
              </a:rPr>
              <a:t>Matkul : </a:t>
            </a:r>
            <a:r>
              <a:rPr sz="1500">
                <a:solidFill>
                  <a:srgbClr val="FFFFFF"/>
                </a:solidFill>
                <a:latin typeface="Aptos"/>
              </a:rPr>
              <a:t>Pemrograman Mobile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GAMBARAN UMUM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Apa yang dipelajari dalam Bab 1–6?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5204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01368"/>
            <a:ext cx="594360" cy="594360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59436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28800"/>
            <a:ext cx="233172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Pengenalan 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58568"/>
            <a:ext cx="2331720" cy="7315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Konsep Android, arsitektur, tools, dan project pertama.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600200"/>
            <a:ext cx="35204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36008" y="1801368"/>
            <a:ext cx="594360" cy="594360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29384"/>
            <a:ext cx="59436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1828800"/>
            <a:ext cx="233172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Komponen Android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258568"/>
            <a:ext cx="2331720" cy="7315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Activity, Intent, Fragment, dan pertukaran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600200"/>
            <a:ext cx="35204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94776" y="1801368"/>
            <a:ext cx="594360" cy="594360"/>
          </a:xfrm>
          <a:prstGeom prst="roundRect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1929384"/>
            <a:ext cx="59436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828800"/>
            <a:ext cx="233172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UI/UX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258568"/>
            <a:ext cx="2331720" cy="7315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Membuat tampilan dan interaksi yang mudah digunakan.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49039"/>
            <a:ext cx="35204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950207"/>
            <a:ext cx="594360" cy="594360"/>
          </a:xfrm>
          <a:prstGeom prst="round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78224"/>
            <a:ext cx="59436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977639"/>
            <a:ext cx="233172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Background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407407"/>
            <a:ext cx="2331720" cy="7315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Menjadwalkan pekerjaan dan memberi notifikasi.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749039"/>
            <a:ext cx="35204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36008" y="3950207"/>
            <a:ext cx="594360" cy="594360"/>
          </a:xfrm>
          <a:prstGeom prst="roundRect">
            <a:avLst/>
          </a:prstGeom>
          <a:solidFill>
            <a:srgbClr val="39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4078224"/>
            <a:ext cx="59436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7528" y="3977639"/>
            <a:ext cx="233172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Penyimpanan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7528" y="4407407"/>
            <a:ext cx="2331720" cy="7315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SharedPreferences, file, dan SQLite.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1896" y="3749039"/>
            <a:ext cx="35204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94776" y="3950207"/>
            <a:ext cx="594360" cy="594360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4776" y="4078224"/>
            <a:ext cx="59436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3977639"/>
            <a:ext cx="233172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Firebase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4407407"/>
            <a:ext cx="2331720" cy="7315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Database cloud dan sinkronisasi data realtime.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1 • PENGENALAN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Apa itu Android dan apa yang dibutuhkan?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874519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310896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21992"/>
            <a:ext cx="3090672" cy="11247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rPr/>
              <a:t>Sistem operasi mobile bersifat open source, berbasis kernel Linux, dan mendukung interaksi layar sentuh.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82296" cy="1874519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64792"/>
            <a:ext cx="310896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Tools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21992"/>
            <a:ext cx="3090672" cy="11247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• JDK: perangkat pengembangan Java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• Android Studio: IDE untuk membuat aplikasi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• Android SDK: alat membangun, menguji, dan debugging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747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82296" cy="1874519"/>
          </a:xfrm>
          <a:prstGeom prst="rect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64792"/>
            <a:ext cx="310896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Bagian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221992"/>
            <a:ext cx="3090672" cy="11247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• Manifest: informasi aplikasi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• Java: kode program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• res: layout, gambar, string, warna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• Gradle: konfigurasi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10789920" cy="3657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101E36"/>
                </a:solidFill>
                <a:latin typeface="Aptos"/>
              </a:defRPr>
            </a:pPr>
            <a:r>
              <a:t>Arsitektur Android secara ringkas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572000"/>
            <a:ext cx="1965960" cy="65836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754880"/>
            <a:ext cx="1819656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Aplikasi Sistem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754880"/>
            <a:ext cx="201168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637385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4572000"/>
            <a:ext cx="1965960" cy="658368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4754880"/>
            <a:ext cx="1819656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Java API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4754880"/>
            <a:ext cx="201168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637385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4572000"/>
            <a:ext cx="1965960" cy="658368"/>
          </a:xfrm>
          <a:prstGeom prst="roundRect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6672" y="4754880"/>
            <a:ext cx="1819656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Android Runtime +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4754880"/>
            <a:ext cx="201168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637385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572000"/>
            <a:ext cx="1965960" cy="658368"/>
          </a:xfrm>
          <a:prstGeom prst="round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1231" y="4754880"/>
            <a:ext cx="1819656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HAL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4754880"/>
            <a:ext cx="201168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637385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4572000"/>
            <a:ext cx="1965960" cy="658368"/>
          </a:xfrm>
          <a:prstGeom prst="roundRect">
            <a:avLst/>
          </a:prstGeom>
          <a:solidFill>
            <a:srgbClr val="39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4754880"/>
            <a:ext cx="1819656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Linux Kernel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23560"/>
            <a:ext cx="10789920" cy="38404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Intinya: Android Studio adalah tempat kerja; Java/XML membentuk aplikasi; SDK membantu proses build dan pengujian.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2 • KOMPONEN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Activity, Intent, dan Fragment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965960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310896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21992"/>
            <a:ext cx="3090672" cy="121615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rPr/>
              <a:t>Layar atau bagian antarmuka yang menangani interaksi pengguna. Setiap Activity memiliki siklus hidup.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82296" cy="1965960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64792"/>
            <a:ext cx="310896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21992"/>
            <a:ext cx="3090672" cy="121615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Pesan/permintaan untuk menjalankan aksi atau berpindah Activity, dengan atau tanpa membawa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747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82296" cy="1965960"/>
          </a:xfrm>
          <a:prstGeom prst="rect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64792"/>
            <a:ext cx="310896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Fragment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221992"/>
            <a:ext cx="3090672" cy="121615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Bagian UI yang dapat digunakan kembali. Ditempatkan di dalam Activity dan mengikuti siklus hidupnya.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512064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101E36"/>
                </a:solidFill>
                <a:latin typeface="Aptos"/>
              </a:defRPr>
            </a:pPr>
            <a:r>
              <a:t>Siklus hidup Activity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34840"/>
            <a:ext cx="1572768" cy="566928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507992"/>
            <a:ext cx="1481328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A69BE"/>
                </a:solidFill>
                <a:latin typeface="Aptos"/>
              </a:defRPr>
            </a:pPr>
            <a:r>
              <a:t>onCreate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736592"/>
            <a:ext cx="148132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37385"/>
                </a:solidFill>
                <a:latin typeface="Aptos"/>
              </a:defRPr>
            </a:pPr>
            <a:r>
              <a:t>dibuat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87168" y="4434840"/>
            <a:ext cx="1572768" cy="566928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32887" y="4507992"/>
            <a:ext cx="1481328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A69BE"/>
                </a:solidFill>
                <a:latin typeface="Aptos"/>
              </a:defRPr>
            </a:pPr>
            <a:r>
              <a:t>onStart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7" y="4736592"/>
            <a:ext cx="148132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37385"/>
                </a:solidFill>
                <a:latin typeface="Aptos"/>
              </a:defRPr>
            </a:pPr>
            <a:r>
              <a:t>terlihat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4434840"/>
            <a:ext cx="1572768" cy="566928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4507992"/>
            <a:ext cx="1481328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A69BE"/>
                </a:solidFill>
                <a:latin typeface="Aptos"/>
              </a:defRPr>
            </a:pPr>
            <a:r>
              <a:t>onResume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736592"/>
            <a:ext cx="148132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37385"/>
                </a:solidFill>
                <a:latin typeface="Aptos"/>
              </a:defRPr>
            </a:pPr>
            <a:r>
              <a:t>aktif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212079"/>
            <a:ext cx="1572768" cy="566928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285231"/>
            <a:ext cx="1481328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A69BE"/>
                </a:solidFill>
                <a:latin typeface="Aptos"/>
              </a:defRPr>
            </a:pPr>
            <a:r>
              <a:t>onPause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5513831"/>
            <a:ext cx="148132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37385"/>
                </a:solidFill>
                <a:latin typeface="Aptos"/>
              </a:defRPr>
            </a:pPr>
            <a:r>
              <a:t>jeda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87168" y="5212079"/>
            <a:ext cx="1572768" cy="566928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32887" y="5285231"/>
            <a:ext cx="1481328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A69BE"/>
                </a:solidFill>
                <a:latin typeface="Aptos"/>
              </a:defRPr>
            </a:pPr>
            <a:r>
              <a:t>onStop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887" y="5513831"/>
            <a:ext cx="148132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37385"/>
                </a:solidFill>
                <a:latin typeface="Aptos"/>
              </a:defRPr>
            </a:pPr>
            <a:r>
              <a:t>tak terlihat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5968" y="5212079"/>
            <a:ext cx="1572768" cy="566928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5285231"/>
            <a:ext cx="1481328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A69BE"/>
                </a:solidFill>
                <a:latin typeface="Aptos"/>
              </a:defRPr>
            </a:pPr>
            <a:r>
              <a:t>onDestroy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8" y="5513831"/>
            <a:ext cx="148132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37385"/>
                </a:solidFill>
                <a:latin typeface="Aptos"/>
              </a:defRPr>
            </a:pPr>
            <a:r>
              <a:t>dihapus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3886200"/>
            <a:ext cx="50749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3886200"/>
            <a:ext cx="82296" cy="1965960"/>
          </a:xfrm>
          <a:prstGeom prst="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4050791"/>
            <a:ext cx="4709159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Dua jenis Intent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4507992"/>
            <a:ext cx="4690872" cy="121615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Explicit: tujuan Activity disebut langsung.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Contoh: membuka DetailActivity.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Implicit: menyebut aksi, sistem mencari aplikasi yang sesuai.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Contoh: membuka halaman web atau dial telepon.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2 • PRAKTIK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Bagaimana data dikirim antar-Activity?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" y="2057400"/>
            <a:ext cx="475488" cy="47548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176272"/>
            <a:ext cx="475488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057400"/>
            <a:ext cx="1554480" cy="2743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01E36"/>
                </a:solidFill>
                <a:latin typeface="Aptos"/>
              </a:defRPr>
            </a:pPr>
            <a:r>
              <a:t>Activity asal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70048"/>
            <a:ext cx="2103120" cy="38404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Membuat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377440"/>
            <a:ext cx="320040" cy="2743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874519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5031" y="2057400"/>
            <a:ext cx="475488" cy="47548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1" y="2176272"/>
            <a:ext cx="475488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057400"/>
            <a:ext cx="1554480" cy="2743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01E36"/>
                </a:solidFill>
                <a:latin typeface="Aptos"/>
              </a:defRPr>
            </a:pPr>
            <a:r>
              <a:t>Tambah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670048"/>
            <a:ext cx="2103120" cy="38404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putExtra(key, value)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2377440"/>
            <a:ext cx="320040" cy="2743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74519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5392" y="2057400"/>
            <a:ext cx="475488" cy="475488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176272"/>
            <a:ext cx="475488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057400"/>
            <a:ext cx="1554480" cy="2743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01E36"/>
                </a:solidFill>
                <a:latin typeface="Aptos"/>
              </a:defRPr>
            </a:pPr>
            <a:r>
              <a:t>Jalankan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70048"/>
            <a:ext cx="2103120" cy="38404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startActivity(intent)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377440"/>
            <a:ext cx="320040" cy="2743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1874519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45751" y="2057400"/>
            <a:ext cx="475488" cy="475488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45751" y="2176272"/>
            <a:ext cx="475488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7" y="2057400"/>
            <a:ext cx="1554480" cy="2743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01E36"/>
                </a:solidFill>
                <a:latin typeface="Aptos"/>
              </a:defRPr>
            </a:pPr>
            <a:r>
              <a:t>Activity tujuan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2670048"/>
            <a:ext cx="2103120" cy="38404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Ambil dengan getIntent()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069080"/>
            <a:ext cx="10652760" cy="1143000"/>
          </a:xfrm>
          <a:prstGeom prst="round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315968"/>
            <a:ext cx="10058400" cy="5943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/>
              <a:t>Contoh sederhana: kirim nama pengguna dari layar Login ke layar Profil. Key digunakan sebagai penanda agar data yang diterima tidak tertukar.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A69BE"/>
                </a:solidFill>
                <a:latin typeface="Aptos"/>
              </a:defRPr>
            </a:pPr>
            <a:r>
              <a:rPr/>
              <a:t>Ingat: data dikirim lewat Intent extras, lalu dibaca menggunakan key yang sama.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3 •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Tampilan bagus harus mudah digunakan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2578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600200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489204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UI — 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21992"/>
            <a:ext cx="4873752" cy="8503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Apa yang dilihat dan disentuh pengguna: tombol, teks, gambar, warna, menu, dan susunan layout.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578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82296" cy="1600200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64792"/>
            <a:ext cx="489204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UX — User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221992"/>
            <a:ext cx="4873752" cy="8503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rPr/>
              <a:t>Pengalaman ketika menggunakan aplikasi: alur jelas, langkah tidak berlebihan, mudah dipahami, dan sesuai harapan.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1069848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101E36"/>
                </a:solidFill>
                <a:latin typeface="Aptos"/>
              </a:defRPr>
            </a:pPr>
            <a:r>
              <a:t>Komponen yang sering dipakai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2029968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315968"/>
            <a:ext cx="1810512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663440"/>
            <a:ext cx="1810512" cy="4389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33042"/>
                </a:solidFill>
                <a:latin typeface="Aptos"/>
              </a:defRPr>
            </a:pPr>
            <a:r>
              <a:t>Button, TextView, EditText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4160520"/>
            <a:ext cx="2029968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5808" y="4315968"/>
            <a:ext cx="1810512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ViewGroup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4663440"/>
            <a:ext cx="1810512" cy="4389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33042"/>
                </a:solidFill>
                <a:latin typeface="Aptos"/>
              </a:defRPr>
            </a:pPr>
            <a:r>
              <a:t>LinearLayout, GridLayout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4160520"/>
            <a:ext cx="2029968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1808" y="4315968"/>
            <a:ext cx="1810512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4663440"/>
            <a:ext cx="1810512" cy="4389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33042"/>
                </a:solidFill>
                <a:latin typeface="Aptos"/>
              </a:defRPr>
            </a:pPr>
            <a:r>
              <a:t>CheckBox, RadioButton, Switch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4160520"/>
            <a:ext cx="2029968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7" y="4315968"/>
            <a:ext cx="1810512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Pesan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4663440"/>
            <a:ext cx="1810512" cy="4389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33042"/>
                </a:solidFill>
                <a:latin typeface="Aptos"/>
              </a:defRPr>
            </a:pPr>
            <a:r>
              <a:t>Toast, AlertDialog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160520"/>
            <a:ext cx="2029968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3807" y="4315968"/>
            <a:ext cx="1810512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A69BE"/>
                </a:solidFill>
                <a:latin typeface="Aptos"/>
              </a:defRPr>
            </a:pPr>
            <a:r>
              <a:t>Navigasi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7" y="4663440"/>
            <a:ext cx="1810512" cy="4389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233042"/>
                </a:solidFill>
                <a:latin typeface="Aptos"/>
              </a:defRPr>
            </a:pPr>
            <a:r>
              <a:t>Back, Drawer,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623560"/>
            <a:ext cx="10744200" cy="438912"/>
          </a:xfrm>
          <a:prstGeom prst="roundRect">
            <a:avLst/>
          </a:prstGeom>
          <a:solidFill>
            <a:srgbClr val="D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24144"/>
            <a:ext cx="1037844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1E36"/>
                </a:solidFill>
                <a:latin typeface="Aptos"/>
              </a:defRPr>
            </a:pPr>
            <a:r>
              <a:rPr/>
              <a:t>Prinsip utama: antarmuka mudah diakses, konsisten, responsif, dan meminimalkan langkah pengguna.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3 •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Menampilkan daftar data: ListView dan RecyclerView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206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82296" cy="1920240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56232"/>
            <a:ext cx="4754879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ListView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4736592" cy="11704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Komponen untuk menampilkan item dalam bentuk daftar. Cocok untuk daftar sederhana.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1206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82296" cy="1920240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856232"/>
            <a:ext cx="4754879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RecyclerView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313432"/>
            <a:ext cx="4736592" cy="11704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Menampilkan kumpulan data dengan lebih fleksibel dan efisien; mendukung pola tampilan yang beragam.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424160" cy="3657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101E36"/>
                </a:solidFill>
                <a:latin typeface="Aptos"/>
              </a:defRPr>
            </a:pPr>
            <a:r>
              <a:t>Contoh visual daftar aplikasi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26280"/>
            <a:ext cx="4663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4128" y="4599432"/>
            <a:ext cx="228600" cy="228600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8" y="4590288"/>
            <a:ext cx="182880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01E36"/>
                </a:solidFill>
                <a:latin typeface="Aptos"/>
              </a:defRPr>
            </a:pPr>
            <a:r>
              <a:t>Agenda kuliah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590288"/>
            <a:ext cx="214884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Pemrograman Mobile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01768"/>
            <a:ext cx="4663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4128" y="5074920"/>
            <a:ext cx="228600" cy="228600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" y="5065776"/>
            <a:ext cx="182880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01E36"/>
                </a:solidFill>
                <a:latin typeface="Aptos"/>
              </a:defRPr>
            </a:pPr>
            <a:r>
              <a:t>Tugas minggu 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065776"/>
            <a:ext cx="214884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Ringkasan Bab 1–6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477256"/>
            <a:ext cx="46634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4128" y="5550408"/>
            <a:ext cx="228600" cy="228600"/>
          </a:xfrm>
          <a:prstGeom prst="roundRect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89888" y="5541264"/>
            <a:ext cx="182880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01E36"/>
                </a:solidFill>
                <a:latin typeface="Aptos"/>
              </a:defRPr>
            </a:pPr>
            <a:r>
              <a:t>Pengingat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541264"/>
            <a:ext cx="214884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Belajar pukul 19.00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480560"/>
            <a:ext cx="4663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709160"/>
            <a:ext cx="41148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01E36"/>
                </a:solidFill>
                <a:latin typeface="Aptos"/>
              </a:defRPr>
            </a:pPr>
            <a:r>
              <a:t>Kapan digunakan?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02352"/>
            <a:ext cx="4069080" cy="6217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Misalnya daftar kontak, produk, agenda, berita, atau tugas. Pilih komponen berdasarkan kebutuhan dan kompleksitas tampilan.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4 • BACKGROUND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Menjalankan tugas di luar layar utama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4747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82296" cy="2057400"/>
          </a:xfrm>
          <a:prstGeom prst="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10512"/>
            <a:ext cx="310896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AlarmManager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67712"/>
            <a:ext cx="3090672" cy="1307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Menjadwalkan aksi pada waktu/interval tertentu. Cocok untuk alarm atau pengingat lokal yang perlu waktu spesifik.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82296" cy="2057400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10512"/>
            <a:ext cx="310896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JobScheduler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67712"/>
            <a:ext cx="3090672" cy="1307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Menjalankan tugas saat kondisi yang ditentukan terpenuhi. Lebih sesuai untuk pekerjaan terjadwal yang mempertimbangkan efisiensi.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34747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82296" cy="2057400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810512"/>
            <a:ext cx="310896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Notification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267712"/>
            <a:ext cx="3090672" cy="1307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rPr/>
              <a:t>Pesan yang tampil di luar UI normal aplikasi, misalnya pengingat, status proses, atau informasi baru.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5156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101E36"/>
                </a:solidFill>
                <a:latin typeface="Aptos"/>
              </a:defRPr>
            </a:pPr>
            <a:r>
              <a:t>Contoh kasus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72000"/>
            <a:ext cx="1508760" cy="310896"/>
          </a:xfrm>
          <a:prstGeom prst="round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32588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A69BE"/>
                </a:solidFill>
                <a:latin typeface="Aptos"/>
              </a:defRPr>
            </a:pPr>
            <a:r>
              <a:t>Alarm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599432"/>
            <a:ext cx="813816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Pengingat minum obat atau jadwal kegiatan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10912"/>
            <a:ext cx="1508760" cy="310896"/>
          </a:xfrm>
          <a:prstGeom prst="round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56632"/>
            <a:ext cx="132588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A69BE"/>
                </a:solidFill>
                <a:latin typeface="Aptos"/>
              </a:defRPr>
            </a:pPr>
            <a:r>
              <a:t>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038344"/>
            <a:ext cx="813816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Sinkronisasi data saat kondisi sesuai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49824"/>
            <a:ext cx="1508760" cy="310896"/>
          </a:xfrm>
          <a:prstGeom prst="round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95544"/>
            <a:ext cx="132588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A69BE"/>
                </a:solidFill>
                <a:latin typeface="Aptos"/>
              </a:defRPr>
            </a:pPr>
            <a:r>
              <a:t>Notifikasi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477256"/>
            <a:ext cx="813816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33042"/>
                </a:solidFill>
                <a:latin typeface="Aptos"/>
              </a:defRPr>
            </a:pPr>
            <a:r>
              <a:t>Memberi tahu bahwa agenda baru ditambahkan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rPr/>
              <a:t>Catatan modul: AlarmManager cocok untuk waktu yang pasti; JobScheduler berbasis kondisi dan membantu menjaga efisiensi baterai.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5 • PENYIMPANAN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Pilih penyimpanan sesuai jenis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109270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109728" cy="457200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91640"/>
            <a:ext cx="201168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SharedPreferences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664208"/>
            <a:ext cx="502920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Data sederhana key–value: teks, angka, Boolean.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664208"/>
            <a:ext cx="306324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Pengaturan tema, preferensi pengguna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04872"/>
            <a:ext cx="109270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23744"/>
            <a:ext cx="109728" cy="457200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523744"/>
            <a:ext cx="201168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Internal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496312"/>
            <a:ext cx="502920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File privat untuk aplikasi; dihapus saat aplikasi di-uninstall.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96312"/>
            <a:ext cx="306324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File internal yang tidak perlu dibagikan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36976"/>
            <a:ext cx="109270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55848"/>
            <a:ext cx="109728" cy="457200"/>
          </a:xfrm>
          <a:prstGeom prst="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355848"/>
            <a:ext cx="201168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External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328416"/>
            <a:ext cx="502920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/>
              <a:t>File di area publik/eksternal; akses dan ketersediaan dapat berbeda.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328416"/>
            <a:ext cx="306324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File yang ingin dibagikan/diakses pengguna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109270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87952"/>
            <a:ext cx="109728" cy="457200"/>
          </a:xfrm>
          <a:prstGeom prst="rect">
            <a:avLst/>
          </a:prstGeom>
          <a:solidFill>
            <a:srgbClr val="39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187952"/>
            <a:ext cx="201168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160520"/>
            <a:ext cx="502920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t>Database lokal untuk data terstruktur dan operasi CRUD.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160520"/>
            <a:ext cx="306324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Data biodata, daftar item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01184"/>
            <a:ext cx="10927080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020056"/>
            <a:ext cx="109728" cy="457200"/>
          </a:xfrm>
          <a:prstGeom prst="rect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5020056"/>
            <a:ext cx="201168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Firebase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992624"/>
            <a:ext cx="502920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33042"/>
                </a:solidFill>
                <a:latin typeface="Aptos"/>
              </a:defRPr>
            </a:pPr>
            <a:r>
              <a:rPr/>
              <a:t>Database cloud untuk menyimpan dan menyinkronkan data antar-client.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992624"/>
            <a:ext cx="3063240" cy="4572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Agenda yang dapat diperbarui lintas perangkat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5 • PRAKTIK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SharedPreferences vs SQLite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1663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82296" cy="2148840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480060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SharedPreferences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9152"/>
            <a:ext cx="4782312" cy="1399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Menyimpan pasangan key–value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Cocok untuk data primitif dan preferensi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Data dapat dibaca kembali saat aplikasi dibuka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Contoh: nama pengguna, tema, pengaturan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1663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82296" cy="2148840"/>
          </a:xfrm>
          <a:prstGeom prst="rect">
            <a:avLst/>
          </a:prstGeom>
          <a:solidFill>
            <a:srgbClr val="39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901952"/>
            <a:ext cx="480060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359152"/>
            <a:ext cx="4782312" cy="1399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Database lokal berbentuk terstruktur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Data disimpan dalam tabel dan kolom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Mendukung operasi CRUD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Contoh: tabel biodata dengan ID, nama, dan atribut 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42416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101E36"/>
                </a:solidFill>
                <a:latin typeface="Aptos"/>
              </a:defRPr>
            </a:pPr>
            <a:r>
              <a:t>CRUD = empat operasi dasar pengelolaan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92040"/>
            <a:ext cx="2423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5056632"/>
            <a:ext cx="475488" cy="47548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84648"/>
            <a:ext cx="475488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01768"/>
            <a:ext cx="150876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01E36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30952"/>
            <a:ext cx="150876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Tambah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79" y="4892040"/>
            <a:ext cx="2423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49039" y="5056632"/>
            <a:ext cx="475488" cy="475488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5184648"/>
            <a:ext cx="475488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001768"/>
            <a:ext cx="150876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01E36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330952"/>
            <a:ext cx="150876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Baca/tampilkan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92040"/>
            <a:ext cx="2423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5056632"/>
            <a:ext cx="475488" cy="475488"/>
          </a:xfrm>
          <a:prstGeom prst="round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184648"/>
            <a:ext cx="475488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001768"/>
            <a:ext cx="150876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01E36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330952"/>
            <a:ext cx="150876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Ubah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19" y="4892040"/>
            <a:ext cx="2423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26880" y="5056632"/>
            <a:ext cx="475488" cy="475488"/>
          </a:xfrm>
          <a:prstGeom prst="roundRect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5184648"/>
            <a:ext cx="475488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5001768"/>
            <a:ext cx="150876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01E36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5330952"/>
            <a:ext cx="150876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Hapus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6 • FIREBASE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Firebase Realtime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212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82296" cy="1645920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10512"/>
            <a:ext cx="484632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Apa itu Firebase?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67712"/>
            <a:ext cx="4828032" cy="8961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rPr/>
              <a:t>Layanan cloud yang dapat menyimpan data aplikasi di luar perangkat Android. Data disusun dalam format JSON.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212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82296" cy="1645920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810512"/>
            <a:ext cx="4846320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Kelebihan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267712"/>
            <a:ext cx="4828032" cy="89611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rPr/>
              <a:t>Data dapat disinkronkan secara realtime antar-client yang terhubung, serta membantu pengembangan tanpa mengelola server sendiri.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105156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101E36"/>
                </a:solidFill>
                <a:latin typeface="Aptos"/>
              </a:defRPr>
            </a:pPr>
            <a:r>
              <a:t>Alur integrasi secara sederhana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343400"/>
            <a:ext cx="20116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384048" cy="38404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38404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89704"/>
            <a:ext cx="1298448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1E36"/>
                </a:solidFill>
                <a:latin typeface="Aptos"/>
              </a:defRPr>
            </a:pPr>
            <a:r>
              <a:t>Buat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965192"/>
            <a:ext cx="173736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Firebase Console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4709160"/>
            <a:ext cx="2743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35224" y="4343400"/>
            <a:ext cx="20116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44952" y="4480560"/>
            <a:ext cx="384048" cy="38404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4572000"/>
            <a:ext cx="38404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4489704"/>
            <a:ext cx="1298448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1E36"/>
                </a:solidFill>
                <a:latin typeface="Aptos"/>
              </a:defRPr>
            </a:pPr>
            <a:r>
              <a:t>Daftarkan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2384" y="4965192"/>
            <a:ext cx="173736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Paket aplikasi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6904" y="4709160"/>
            <a:ext cx="2743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48655" y="4343400"/>
            <a:ext cx="20116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58383" y="4480560"/>
            <a:ext cx="384048" cy="38404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58383" y="4572000"/>
            <a:ext cx="38404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3" y="4489704"/>
            <a:ext cx="1298448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1E36"/>
                </a:solidFill>
                <a:latin typeface="Aptos"/>
              </a:defRPr>
            </a:pPr>
            <a:r>
              <a:t>Konfigurasi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85816" y="4965192"/>
            <a:ext cx="173736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google-services.json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0336" y="4709160"/>
            <a:ext cx="2743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62088" y="4343400"/>
            <a:ext cx="20116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71815" y="4480560"/>
            <a:ext cx="384048" cy="384048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5" y="4572000"/>
            <a:ext cx="38404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9015" y="4489704"/>
            <a:ext cx="1298448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1E36"/>
                </a:solidFill>
                <a:latin typeface="Aptos"/>
              </a:defRPr>
            </a:pPr>
            <a:r>
              <a:t>Hubungkan SDK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4965192"/>
            <a:ext cx="173736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Gradle +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3767" y="4709160"/>
            <a:ext cx="2743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19" y="4343400"/>
            <a:ext cx="20116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85247" y="4480560"/>
            <a:ext cx="384048" cy="384048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85247" y="4572000"/>
            <a:ext cx="384048" cy="1645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42447" y="4489704"/>
            <a:ext cx="1298448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1E36"/>
                </a:solidFill>
                <a:latin typeface="Aptos"/>
              </a:defRPr>
            </a:pPr>
            <a:r>
              <a:t>Kelola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4965192"/>
            <a:ext cx="1737360" cy="20116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37385"/>
                </a:solidFill>
                <a:latin typeface="Aptos"/>
              </a:defRPr>
            </a:pPr>
            <a:r>
              <a:t>CRUD Database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715000"/>
            <a:ext cx="10607040" cy="411480"/>
          </a:xfrm>
          <a:prstGeom prst="roundRect">
            <a:avLst/>
          </a:prstGeom>
          <a:solidFill>
            <a:srgbClr val="FF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815584"/>
            <a:ext cx="103327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01E36"/>
                </a:solidFill>
                <a:latin typeface="Aptos"/>
              </a:defRPr>
            </a:pPr>
            <a:r>
              <a:rPr/>
              <a:t>Penting: aturan akses database harus aman; jangan membuka izin baca/tulis untuk semua pengguna tanpa kebutuhan dan pengamanan.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BAB 5–6 • PERBANDINGAN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Data lokal atau cloud?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0749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82296" cy="2286000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4709159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Penyimpanan lokal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04872"/>
            <a:ext cx="4690872" cy="15361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Berada di perangkat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Dapat digunakan tanpa koneksi internet (sesuai jenisnya)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Cocok untuk preferensi dan data lokal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Contoh: SharedPreferences,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82296" cy="2286000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947672"/>
            <a:ext cx="4709159" cy="34747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Penyimpanan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404872"/>
            <a:ext cx="4690872" cy="153619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Berada di layanan online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Mendukung sinkronisasi antar-client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Membutuhkan konfigurasi akses dan koneksi untuk sinkronisasi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233042"/>
                </a:solidFill>
                <a:latin typeface="Aptos"/>
              </a:defRPr>
            </a:pPr>
            <a:r>
              <a:t>• Contoh: Firebase Realtime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10332720" cy="384048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101E36"/>
                </a:solidFill>
                <a:latin typeface="Aptos"/>
              </a:defRPr>
            </a:pPr>
            <a:r>
              <a:t>Pertanyaan penentu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149840" cy="6858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233042"/>
                </a:solidFill>
                <a:latin typeface="Aptos"/>
              </a:defRPr>
            </a:pPr>
            <a:r>
              <a:rPr/>
              <a:t>Apakah data hanya diperlukan di satu perangkat, atau harus dibagikan dan disinkronkan ke beberapa perangkat/pengguna?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14984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A69BE"/>
                </a:solidFill>
                <a:latin typeface="Aptos"/>
              </a:defRPr>
            </a:pPr>
            <a:r>
              <a:rPr/>
              <a:t>Gunakan kebutuhan aplikasi sebagai dasar memilih teknologi penyimpanan.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Bagaimana semua bab terhubung dalam satu aplikasi?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0574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2148840"/>
            <a:ext cx="1719072" cy="10972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450592"/>
            <a:ext cx="18288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Tampilan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80360"/>
            <a:ext cx="1828800" cy="4114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Bab 3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UI/UX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87752"/>
            <a:ext cx="27432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965960"/>
            <a:ext cx="20574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520" y="2148840"/>
            <a:ext cx="1719072" cy="109728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2450592"/>
            <a:ext cx="18288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Aksi pengguna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2880360"/>
            <a:ext cx="1828800" cy="4114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Bab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Activity + 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587752"/>
            <a:ext cx="27432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2936" y="1965960"/>
            <a:ext cx="20574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67527" y="2148840"/>
            <a:ext cx="1719072" cy="109728"/>
          </a:xfrm>
          <a:prstGeom prst="round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2450592"/>
            <a:ext cx="18288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Proses terjadwal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880360"/>
            <a:ext cx="1828800" cy="4114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Bab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Background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2587752"/>
            <a:ext cx="27432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1965960"/>
            <a:ext cx="20574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17536" y="2148840"/>
            <a:ext cx="1719072" cy="109728"/>
          </a:xfrm>
          <a:prstGeom prst="roundRect">
            <a:avLst/>
          </a:prstGeom>
          <a:solidFill>
            <a:srgbClr val="39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1" y="2450592"/>
            <a:ext cx="18288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Simpan lokal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880360"/>
            <a:ext cx="1828800" cy="4114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Bab 5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Preferences / 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2587752"/>
            <a:ext cx="27432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A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2952" y="1965960"/>
            <a:ext cx="20574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67544" y="2148840"/>
            <a:ext cx="1719072" cy="109728"/>
          </a:xfrm>
          <a:prstGeom prst="roundRect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2450592"/>
            <a:ext cx="1828800" cy="32004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Sinkronisasi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880360"/>
            <a:ext cx="1828800" cy="4114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Bab 6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37385"/>
                </a:solidFill>
                <a:latin typeface="Aptos"/>
              </a:defRPr>
            </a:pPr>
            <a:r>
              <a:t>Firebase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251960"/>
            <a:ext cx="10561320" cy="1051560"/>
          </a:xfrm>
          <a:prstGeom prst="round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480560"/>
            <a:ext cx="10012680" cy="5943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/>
              <a:t>Contoh aplikasi agenda: pengguna melihat daftar, menambah agenda, menerima pengingat, menyimpan data, lalu menyinkronkannya ke cloud jika dibutuhkan.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2A69BE"/>
                </a:solidFill>
                <a:latin typeface="Aptos"/>
              </a:defRPr>
            </a:pPr>
            <a:r>
              <a:rPr/>
              <a:t>Inti pembelajaran: aplikasi yang baik menggabungkan antarmuka, alur kerja, proses latar belakang, dan penyimpanan data yang tepat.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256032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2A69BE"/>
                </a:solidFill>
                <a:latin typeface="Aptos"/>
              </a:defRPr>
            </a:pPr>
            <a:r>
              <a:rPr>
                <a:solidFill>
                  <a:srgbClr val="162743"/>
                </a:solidFill>
              </a:rPr>
              <a:t>PENUTUP • PENGUATAN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Ringkasan cepat untuk mengingat materi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658368" cy="54864"/>
          </a:xfrm>
          <a:prstGeom prst="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63738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508760" cy="47548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82495"/>
            <a:ext cx="132588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627632"/>
            <a:ext cx="8778240" cy="3657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Android Studio + SDK digunakan untuk membangun dan menguji aplikasi.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67712"/>
            <a:ext cx="1508760" cy="475488"/>
          </a:xfrm>
          <a:prstGeom prst="roundRect">
            <a:avLst/>
          </a:prstGeom>
          <a:solidFill>
            <a:srgbClr val="35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132588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Bab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340864"/>
            <a:ext cx="8778240" cy="3657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Activity = layar; Intent = aksi/komunikasi; Fragment = bagian UI reusable.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80944"/>
            <a:ext cx="1508760" cy="475488"/>
          </a:xfrm>
          <a:prstGeom prst="roundRect">
            <a:avLst/>
          </a:prstGeom>
          <a:solidFill>
            <a:srgbClr val="847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132588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Bab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054096"/>
            <a:ext cx="8778240" cy="3657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UI adalah tampilan; UX adalah pengalaman; RecyclerView untuk daftar fleksibel.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94176"/>
            <a:ext cx="1508760" cy="475488"/>
          </a:xfrm>
          <a:prstGeom prst="round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1"/>
            <a:ext cx="132588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Bab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767328"/>
            <a:ext cx="8778240" cy="3657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AlarmManager untuk waktu tertentu; JobScheduler untuk tugas berbasis kondisi; Notification memberi informasi.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07408"/>
            <a:ext cx="1508760" cy="475488"/>
          </a:xfrm>
          <a:prstGeom prst="roundRect">
            <a:avLst/>
          </a:prstGeom>
          <a:solidFill>
            <a:srgbClr val="39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35424"/>
            <a:ext cx="132588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Bab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480560"/>
            <a:ext cx="8778240" cy="3657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SharedPreferences untuk key–value; SQLite untuk data tabel; storage internal/eksternal sesuai akses.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20640"/>
            <a:ext cx="1508760" cy="475488"/>
          </a:xfrm>
          <a:prstGeom prst="roundRect">
            <a:avLst/>
          </a:prstGeom>
          <a:solidFill>
            <a:srgbClr val="2A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2860" bIns="22860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48656"/>
            <a:ext cx="1325880" cy="18288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Bab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193792"/>
            <a:ext cx="8778240" cy="36576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rPr/>
              <a:t>Firebase menyimpan data di cloud dan mendukung sinkronisasi realtime; amankan rules akses.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80760"/>
            <a:ext cx="10515600" cy="228600"/>
          </a:xfrm>
          <a:prstGeom prst="rect">
            <a:avLst/>
          </a:prstGeom>
          <a:noFill/>
        </p:spPr>
        <p:txBody>
          <a:bodyPr wrap="square" lIns="64008" rIns="64008" tIns="2286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37385"/>
                </a:solidFill>
                <a:latin typeface="Aptos"/>
              </a:defRPr>
            </a:pPr>
            <a:r>
              <a:rPr/>
              <a:t>Materi diringkas dari enam modul yang diunggah: Pemrograman Mobile Android dengan Java — Erma Susanti (Desember 2020).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Rangkuman Materi Kuliah Pemrograman Mobile Android Bab 1–6</dc:title>
  <dc:subject>Rangkuman Pemrograman Mobile Android</dc:subject>
  <dc:creator>Teguh Hady Nurwahid</dc:creator>
  <cp:keywords>Pemrograman Mobile, Android, Java, Bab 1-6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